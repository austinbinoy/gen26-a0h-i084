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449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1572768" y="2944123"/>
            <a:ext cx="5669280" cy="36576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48639" y="3703320"/>
            <a:ext cx="9882985"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–SAAND</a:t>
            </a:r>
            <a:endParaRPr lang="en-US" sz="1800" dirty="0"/>
          </a:p>
          <a:p>
            <a:pPr marL="279400" indent="-279400">
              <a:spcAft>
                <a:spcPts val="1400"/>
              </a:spcAft>
              <a:buClr>
                <a:schemeClr val="accent3"/>
              </a:buClr>
              <a:buSzPct val="100000"/>
              <a:buChar char="•"/>
            </a:pPr>
            <a:r>
              <a:rPr lang="en-US" sz="1800" dirty="0">
                <a:solidFill>
                  <a:schemeClr val="bg1"/>
                </a:solidFill>
              </a:rPr>
              <a:t>Team Members –  Austin Binoy                         CB.EN.U4ARE25008</a:t>
            </a:r>
            <a:br>
              <a:rPr lang="en-US" sz="1800" dirty="0">
                <a:solidFill>
                  <a:schemeClr val="bg1"/>
                </a:solidFill>
              </a:rPr>
            </a:br>
            <a:r>
              <a:rPr lang="en-US" sz="1800" dirty="0">
                <a:solidFill>
                  <a:schemeClr val="bg1"/>
                </a:solidFill>
              </a:rPr>
              <a:t>		   Siddharth </a:t>
            </a:r>
            <a:r>
              <a:rPr lang="en-US" sz="1800" dirty="0" err="1">
                <a:solidFill>
                  <a:schemeClr val="bg1"/>
                </a:solidFill>
              </a:rPr>
              <a:t>HariPanicker</a:t>
            </a:r>
            <a:r>
              <a:rPr lang="en-US" dirty="0">
                <a:solidFill>
                  <a:schemeClr val="bg1"/>
                </a:solidFill>
              </a:rPr>
              <a:t>       CB.EN.U4ARE25018</a:t>
            </a:r>
            <a:br>
              <a:rPr lang="en-US" dirty="0">
                <a:solidFill>
                  <a:schemeClr val="bg1"/>
                </a:solidFill>
              </a:rPr>
            </a:br>
            <a:r>
              <a:rPr lang="en-US" dirty="0">
                <a:solidFill>
                  <a:schemeClr val="bg1"/>
                </a:solidFill>
              </a:rPr>
              <a:t>		   Ashwin </a:t>
            </a:r>
            <a:r>
              <a:rPr lang="en-US" dirty="0" err="1">
                <a:solidFill>
                  <a:schemeClr val="bg1"/>
                </a:solidFill>
              </a:rPr>
              <a:t>Shajil</a:t>
            </a:r>
            <a:r>
              <a:rPr lang="en-US" dirty="0">
                <a:solidFill>
                  <a:schemeClr val="bg1"/>
                </a:solidFill>
              </a:rPr>
              <a:t>                        CB.EN.U4ARE25007</a:t>
            </a:r>
            <a:br>
              <a:rPr lang="en-US" dirty="0">
                <a:solidFill>
                  <a:schemeClr val="bg1"/>
                </a:solidFill>
              </a:rPr>
            </a:br>
            <a:r>
              <a:rPr lang="en-US" dirty="0">
                <a:solidFill>
                  <a:schemeClr val="bg1"/>
                </a:solidFill>
              </a:rPr>
              <a:t>		   H Dheeraj 	                CB.EN.U4ARE25017</a:t>
            </a:r>
            <a:endParaRPr lang="en-US" dirty="0"/>
          </a:p>
          <a:p>
            <a:pPr marL="279400" indent="-279400">
              <a:spcAft>
                <a:spcPts val="1400"/>
              </a:spcAft>
              <a:buClr>
                <a:schemeClr val="accent3"/>
              </a:buClr>
              <a:buSzPct val="100000"/>
              <a:buChar char="•"/>
            </a:pPr>
            <a:r>
              <a:rPr lang="en-US" sz="1800" dirty="0">
                <a:solidFill>
                  <a:schemeClr val="bg1"/>
                </a:solidFill>
              </a:rPr>
              <a:t>Selected Domain – 5</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IN" dirty="0"/>
              <a:t>S </a:t>
            </a:r>
            <a:r>
              <a:rPr lang="en-IN" dirty="0">
                <a:solidFill>
                  <a:schemeClr val="bg1"/>
                </a:solidFill>
              </a:rPr>
              <a:t>Surging fertilizer costs and wasteful spreading methods are forcing farmers to use less nutrients, lowering crop yields and threatening global food security</a:t>
            </a:r>
            <a:r>
              <a:rPr lang="en-IN" dirty="0"/>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What exactly needs to be solved?</a:t>
            </a:r>
          </a:p>
          <a:p>
            <a:pPr>
              <a:spcAft>
                <a:spcPts val="1000"/>
              </a:spcAft>
              <a:buClr>
                <a:schemeClr val="accent1"/>
              </a:buClr>
              <a:buSzPct val="100000"/>
            </a:pPr>
            <a:r>
              <a:rPr lang="en-US" sz="1600" dirty="0"/>
              <a:t>The core problem is the high structural inefficiency and unsustainable cost burden of conventional crop nutrition in farming. Currently, farmers apply crop inputs uniformly across entire fields, regardless of the actual, varying needs of individual plants. This blanket approach wastes 40% to 60% of applied fertilizers through environmental runoff, evaporation, and non-targeted delivery, creating a severe operational gap where farmers are paying maximum price for inputs that are largely wasted.</a:t>
            </a:r>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Why is it important right now?</a:t>
            </a:r>
            <a:endParaRPr lang="en-US" b="1" dirty="0">
              <a:solidFill>
                <a:schemeClr val="tx1"/>
              </a:solidFill>
            </a:endParaRPr>
          </a:p>
          <a:p>
            <a:pPr>
              <a:spcAft>
                <a:spcPts val="1000"/>
              </a:spcAft>
              <a:buClr>
                <a:schemeClr val="accent1"/>
              </a:buClr>
              <a:buSzPct val="100000"/>
            </a:pPr>
            <a:r>
              <a:rPr lang="en-US" sz="1600" dirty="0"/>
              <a:t>Production of nitrogen-based fertilizers is heavily tied to natural gas . Global conflicts, such as the Russia-Ukraine war, triggered severe natural gas price spikes (up to 139%), causing fertilizer prices to reach historic highs.  Because input costs have skyrocketed, small and medium farmers can no longer afford the quantity of fertilizer required by traditional farming practices.  As highlighted internationally—including warnings by External Affairs Minister S.   Jaishankar regarding the "4F Crisis" (Food, Fuel, Fertilizer, Finance)—the inability of farmers to afford these inputs forces them to under-fertilize their land. This leads directly to declining crop yields, threatened farmer livelihoods, and widespread food </a:t>
            </a:r>
            <a:endParaRPr lang="en-US" sz="16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03120"/>
            <a:ext cx="10424160" cy="4251960"/>
          </a:xfrm>
          <a:prstGeom prst="rect">
            <a:avLst/>
          </a:prstGeom>
          <a:noFill/>
          <a:ln/>
        </p:spPr>
        <p:txBody>
          <a:bodyPr wrap="square" lIns="45720" tIns="27432" rIns="45720" bIns="27432" rtlCol="0" anchor="t"/>
          <a:lstStyle/>
          <a:p>
            <a:pPr marL="285750" indent="-285750">
              <a:spcBef>
                <a:spcPts val="200"/>
              </a:spcBef>
              <a:spcAft>
                <a:spcPts val="0"/>
              </a:spcAft>
              <a:buClr>
                <a:schemeClr val="accent1"/>
              </a:buClr>
              <a:buSzPct val="100000"/>
              <a:buFont typeface="Arial" panose="020B0604020202020204" pitchFamily="34" charset="0"/>
              <a:buChar char="•"/>
            </a:pPr>
            <a:r>
              <a:rPr sz="1600" b="1" dirty="0"/>
              <a:t>PRIMARY USERS</a:t>
            </a:r>
            <a:endParaRPr lang="en-US" sz="1800" dirty="0"/>
          </a:p>
          <a:p>
            <a:pPr>
              <a:spcBef>
                <a:spcPts val="0"/>
              </a:spcBef>
              <a:spcAft>
                <a:spcPts val="200"/>
              </a:spcAft>
            </a:pPr>
            <a:r>
              <a:rPr lang="en-US" sz="1500" dirty="0"/>
              <a:t>   </a:t>
            </a:r>
            <a:r>
              <a:rPr sz="1500" dirty="0"/>
              <a:t> Small and medium-scale farmers</a:t>
            </a:r>
            <a:r>
              <a:rPr lang="en-US" sz="1500" dirty="0"/>
              <a:t> </a:t>
            </a:r>
          </a:p>
          <a:p>
            <a:pPr>
              <a:spcBef>
                <a:spcPts val="0"/>
              </a:spcBef>
              <a:spcAft>
                <a:spcPts val="200"/>
              </a:spcAft>
            </a:pPr>
            <a:r>
              <a:rPr lang="en-US" sz="1500" dirty="0"/>
              <a:t>    </a:t>
            </a:r>
            <a:r>
              <a:rPr sz="1500" dirty="0"/>
              <a:t>Farmers who spread fertilizer manually</a:t>
            </a:r>
            <a:endParaRPr lang="en-US" sz="1500" dirty="0"/>
          </a:p>
          <a:p>
            <a:pPr marL="285750" indent="-285750">
              <a:spcBef>
                <a:spcPts val="0"/>
              </a:spcBef>
              <a:spcAft>
                <a:spcPts val="200"/>
              </a:spcAft>
              <a:buFont typeface="Arial" panose="020B0604020202020204" pitchFamily="34" charset="0"/>
              <a:buChar char="•"/>
            </a:pPr>
            <a:r>
              <a:rPr lang="en-US" sz="1600" b="1" dirty="0"/>
              <a:t>SECONDARY </a:t>
            </a:r>
            <a:r>
              <a:rPr sz="1600" b="1" dirty="0"/>
              <a:t>STAKEHOLDERS</a:t>
            </a:r>
          </a:p>
          <a:p>
            <a:pPr>
              <a:spcBef>
                <a:spcPts val="0"/>
              </a:spcBef>
              <a:spcAft>
                <a:spcPts val="200"/>
              </a:spcAft>
            </a:pPr>
            <a:r>
              <a:rPr lang="en-US" sz="1500" dirty="0"/>
              <a:t>    </a:t>
            </a:r>
            <a:r>
              <a:rPr sz="1500" dirty="0"/>
              <a:t> Agricultural officers and farming cooperatives</a:t>
            </a:r>
            <a:endParaRPr lang="en-US" sz="1500" dirty="0"/>
          </a:p>
          <a:p>
            <a:pPr>
              <a:spcBef>
                <a:spcPts val="0"/>
              </a:spcBef>
              <a:spcAft>
                <a:spcPts val="200"/>
              </a:spcAft>
            </a:pPr>
            <a:r>
              <a:rPr lang="en-US" sz="1500" dirty="0"/>
              <a:t>     Government providing these fertilizers</a:t>
            </a:r>
          </a:p>
          <a:p>
            <a:pPr>
              <a:spcBef>
                <a:spcPts val="0"/>
              </a:spcBef>
              <a:spcAft>
                <a:spcPts val="200"/>
              </a:spcAft>
            </a:pPr>
            <a:r>
              <a:rPr lang="en-US" sz="1500" dirty="0"/>
              <a:t>     </a:t>
            </a:r>
            <a:r>
              <a:rPr lang="en-IN" sz="1600" dirty="0"/>
              <a:t>Agricultural technology developers.</a:t>
            </a:r>
            <a:endParaRPr sz="1500" dirty="0"/>
          </a:p>
          <a:p>
            <a:pPr marL="285750" indent="-285750">
              <a:spcBef>
                <a:spcPts val="200"/>
              </a:spcBef>
              <a:spcAft>
                <a:spcPts val="0"/>
              </a:spcAft>
              <a:buFont typeface="Arial" panose="020B0604020202020204" pitchFamily="34" charset="0"/>
              <a:buChar char="•"/>
            </a:pPr>
            <a:r>
              <a:rPr sz="1600" b="1" dirty="0"/>
              <a:t>BENEFITS</a:t>
            </a:r>
            <a:endParaRPr lang="en-IN" sz="1600" b="1" dirty="0"/>
          </a:p>
          <a:p>
            <a:pPr>
              <a:spcBef>
                <a:spcPts val="0"/>
              </a:spcBef>
              <a:spcAft>
                <a:spcPts val="200"/>
              </a:spcAft>
            </a:pPr>
            <a:r>
              <a:rPr lang="en-US" sz="1500" dirty="0"/>
              <a:t>      Farmers gets lower fertilizer  expenses </a:t>
            </a:r>
          </a:p>
          <a:p>
            <a:pPr>
              <a:spcBef>
                <a:spcPts val="0"/>
              </a:spcBef>
              <a:spcAft>
                <a:spcPts val="200"/>
              </a:spcAft>
            </a:pPr>
            <a:r>
              <a:rPr lang="en-US" sz="1500" dirty="0"/>
              <a:t>      Reduces nutrient runoff into water bodies</a:t>
            </a:r>
            <a:br>
              <a:rPr lang="en-US" sz="1500" dirty="0"/>
            </a:br>
            <a:r>
              <a:rPr lang="en-US" sz="1500" dirty="0"/>
              <a:t>       More sustainable crop production and food security</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12" name="Team Name">
            <a:extLst>
              <a:ext uri="{FF2B5EF4-FFF2-40B4-BE49-F238E27FC236}">
                <a16:creationId xmlns:a16="http://schemas.microsoft.com/office/drawing/2014/main" id="{84827737-4A9D-E6D6-93B8-5E53F1D294BF}"/>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2" name="Team Name">
            <a:extLst>
              <a:ext uri="{FF2B5EF4-FFF2-40B4-BE49-F238E27FC236}">
                <a16:creationId xmlns:a16="http://schemas.microsoft.com/office/drawing/2014/main" id="{D704FF48-7A7F-4256-D627-6107A1122D6B}"/>
              </a:ext>
            </a:extLst>
          </p:cNvPr>
          <p:cNvSpPr txBox="1"/>
          <p:nvPr/>
        </p:nvSpPr>
        <p:spPr>
          <a:xfrm>
            <a:off x="1527048"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14" name="TextBox 13">
            <a:extLst>
              <a:ext uri="{FF2B5EF4-FFF2-40B4-BE49-F238E27FC236}">
                <a16:creationId xmlns:a16="http://schemas.microsoft.com/office/drawing/2014/main" id="{CCDFA37A-9E71-B0BA-7416-7541BEEA202A}"/>
              </a:ext>
            </a:extLst>
          </p:cNvPr>
          <p:cNvSpPr txBox="1"/>
          <p:nvPr/>
        </p:nvSpPr>
        <p:spPr>
          <a:xfrm>
            <a:off x="603504" y="1980590"/>
            <a:ext cx="7692189" cy="2862322"/>
          </a:xfrm>
          <a:prstGeom prst="rect">
            <a:avLst/>
          </a:prstGeom>
          <a:noFill/>
        </p:spPr>
        <p:txBody>
          <a:bodyPr wrap="square">
            <a:spAutoFit/>
          </a:bodyPr>
          <a:lstStyle/>
          <a:p>
            <a:pPr>
              <a:buNone/>
            </a:pPr>
            <a:r>
              <a:rPr lang="en-IN" b="1" dirty="0"/>
              <a:t>Existing Scenario</a:t>
            </a:r>
            <a:endParaRPr lang="en-IN" dirty="0"/>
          </a:p>
          <a:p>
            <a:pPr marL="342900" lvl="0" indent="-342900">
              <a:buFont typeface="Arial" panose="020B0604020202020204" pitchFamily="34" charset="0"/>
              <a:buChar char="•"/>
            </a:pPr>
            <a:r>
              <a:rPr lang="en-IN" dirty="0"/>
              <a:t>Fertilizers are often spread uniformly across fields.</a:t>
            </a:r>
          </a:p>
          <a:p>
            <a:pPr marL="342900" lvl="0" indent="-342900">
              <a:buFont typeface="Arial" panose="020B0604020202020204" pitchFamily="34" charset="0"/>
              <a:buChar char="•"/>
            </a:pPr>
            <a:r>
              <a:rPr lang="en-IN" dirty="0"/>
              <a:t>Crop nutrient requirements vary with soil conditions and plant growth.</a:t>
            </a:r>
          </a:p>
          <a:p>
            <a:pPr marL="342900" lvl="0" indent="-342900">
              <a:buFont typeface="Arial" panose="020B0604020202020204" pitchFamily="34" charset="0"/>
              <a:buChar char="•"/>
            </a:pPr>
            <a:r>
              <a:rPr lang="en-IN" dirty="0"/>
              <a:t>Rising input costs make inefficient fertilizer use more expensive.</a:t>
            </a:r>
          </a:p>
          <a:p>
            <a:pPr>
              <a:buNone/>
            </a:pPr>
            <a:r>
              <a:rPr lang="en-IN" b="1" dirty="0"/>
              <a:t>Current Workflow</a:t>
            </a:r>
            <a:endParaRPr lang="en-IN" dirty="0"/>
          </a:p>
          <a:p>
            <a:pPr marL="342900" lvl="0" indent="-342900">
              <a:buFont typeface="+mj-lt"/>
              <a:buAutoNum type="arabicPeriod"/>
            </a:pPr>
            <a:r>
              <a:rPr lang="en-IN" dirty="0"/>
              <a:t>Farmer purchases fertilizers.</a:t>
            </a:r>
          </a:p>
          <a:p>
            <a:pPr marL="342900" lvl="0" indent="-342900">
              <a:buFont typeface="+mj-lt"/>
              <a:buAutoNum type="arabicPeriod"/>
            </a:pPr>
            <a:r>
              <a:rPr lang="en-IN" dirty="0"/>
              <a:t>Fertilizer is applied manually or using spreading equipment.</a:t>
            </a:r>
          </a:p>
          <a:p>
            <a:pPr marL="342900" lvl="0" indent="-342900">
              <a:buFont typeface="+mj-lt"/>
              <a:buAutoNum type="arabicPeriod"/>
            </a:pPr>
            <a:r>
              <a:rPr lang="en-IN" dirty="0"/>
              <a:t>Application is based on general recommendations or experience.</a:t>
            </a:r>
          </a:p>
          <a:p>
            <a:pPr marL="342900" lvl="0" indent="-342900">
              <a:buFont typeface="+mj-lt"/>
              <a:buAutoNum type="arabicPeriod"/>
            </a:pPr>
            <a:r>
              <a:rPr lang="en-IN" dirty="0"/>
              <a:t>Some areas may receive too much or too little fertilizer.</a:t>
            </a:r>
          </a:p>
          <a:p>
            <a:pPr marL="342900" lvl="0" indent="-342900">
              <a:buFont typeface="+mj-lt"/>
              <a:buAutoNum type="arabicPeriod"/>
            </a:pPr>
            <a:r>
              <a:rPr lang="en-IN" dirty="0"/>
              <a:t>Farmer monitors crop growth and harvests.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2" name="Team Name">
            <a:extLst>
              <a:ext uri="{FF2B5EF4-FFF2-40B4-BE49-F238E27FC236}">
                <a16:creationId xmlns:a16="http://schemas.microsoft.com/office/drawing/2014/main" id="{701ADA62-64C6-5A8D-B043-F98D50337748}"/>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14" name="TextBox 13">
            <a:extLst>
              <a:ext uri="{FF2B5EF4-FFF2-40B4-BE49-F238E27FC236}">
                <a16:creationId xmlns:a16="http://schemas.microsoft.com/office/drawing/2014/main" id="{03D11990-93A4-3950-4110-FB7FDD54B43E}"/>
              </a:ext>
            </a:extLst>
          </p:cNvPr>
          <p:cNvSpPr txBox="1"/>
          <p:nvPr/>
        </p:nvSpPr>
        <p:spPr>
          <a:xfrm>
            <a:off x="1005840" y="2179015"/>
            <a:ext cx="7611979" cy="3693319"/>
          </a:xfrm>
          <a:prstGeom prst="rect">
            <a:avLst/>
          </a:prstGeom>
          <a:noFill/>
        </p:spPr>
        <p:txBody>
          <a:bodyPr wrap="square">
            <a:spAutoFit/>
          </a:bodyPr>
          <a:lstStyle/>
          <a:p>
            <a:pPr>
              <a:buNone/>
            </a:pPr>
            <a:r>
              <a:rPr lang="en-IN" b="1" dirty="0"/>
              <a:t>Main Challenges</a:t>
            </a:r>
            <a:endParaRPr lang="en-IN" dirty="0"/>
          </a:p>
          <a:p>
            <a:pPr marL="342900" lvl="0" indent="-342900">
              <a:buFont typeface="Arial" panose="020B0604020202020204" pitchFamily="34" charset="0"/>
              <a:buChar char="•"/>
            </a:pPr>
            <a:r>
              <a:rPr lang="en-IN" dirty="0"/>
              <a:t>High and fluctuating fertilizer prices.</a:t>
            </a:r>
          </a:p>
          <a:p>
            <a:pPr marL="342900" lvl="0" indent="-342900">
              <a:buFont typeface="Arial" panose="020B0604020202020204" pitchFamily="34" charset="0"/>
              <a:buChar char="•"/>
            </a:pPr>
            <a:r>
              <a:rPr lang="en-IN" dirty="0"/>
              <a:t>Uneven nutrient distribution across fields.</a:t>
            </a:r>
          </a:p>
          <a:p>
            <a:pPr marL="342900" lvl="0" indent="-342900">
              <a:buFont typeface="Arial" panose="020B0604020202020204" pitchFamily="34" charset="0"/>
              <a:buChar char="•"/>
            </a:pPr>
            <a:r>
              <a:rPr lang="en-IN" dirty="0"/>
              <a:t>Limited access to soil testing and precision-farming tools.</a:t>
            </a:r>
          </a:p>
          <a:p>
            <a:pPr marL="342900" lvl="0" indent="-342900">
              <a:buFont typeface="Arial" panose="020B0604020202020204" pitchFamily="34" charset="0"/>
              <a:buChar char="•"/>
            </a:pPr>
            <a:r>
              <a:rPr lang="en-IN" dirty="0"/>
              <a:t>Difficulty determining the correct fertilizer quantity.</a:t>
            </a:r>
          </a:p>
          <a:p>
            <a:pPr>
              <a:buNone/>
            </a:pPr>
            <a:r>
              <a:rPr lang="en-IN" b="1" dirty="0"/>
              <a:t>Root Causes</a:t>
            </a:r>
            <a:endParaRPr lang="en-IN" dirty="0"/>
          </a:p>
          <a:p>
            <a:pPr marL="342900" lvl="0" indent="-342900">
              <a:buFont typeface="Arial" panose="020B0604020202020204" pitchFamily="34" charset="0"/>
              <a:buChar char="•"/>
            </a:pPr>
            <a:r>
              <a:rPr lang="en-IN" dirty="0"/>
              <a:t>Lack of field-specific nutrient information.</a:t>
            </a:r>
          </a:p>
          <a:p>
            <a:pPr marL="342900" lvl="0" indent="-342900">
              <a:buFont typeface="Arial" panose="020B0604020202020204" pitchFamily="34" charset="0"/>
              <a:buChar char="•"/>
            </a:pPr>
            <a:r>
              <a:rPr lang="en-IN" dirty="0"/>
              <a:t>Dependence on uniform or manual spreading.</a:t>
            </a:r>
          </a:p>
          <a:p>
            <a:pPr marL="342900" lvl="0" indent="-342900">
              <a:buFont typeface="Arial" panose="020B0604020202020204" pitchFamily="34" charset="0"/>
              <a:buChar char="•"/>
            </a:pPr>
            <a:r>
              <a:rPr lang="en-IN" dirty="0"/>
              <a:t>High cost and complexity of advanced farming technology.</a:t>
            </a:r>
          </a:p>
          <a:p>
            <a:pPr>
              <a:buNone/>
            </a:pPr>
            <a:r>
              <a:rPr lang="en-IN" b="1" dirty="0"/>
              <a:t>Consequences</a:t>
            </a:r>
            <a:endParaRPr lang="en-IN" dirty="0"/>
          </a:p>
          <a:p>
            <a:pPr marL="342900" lvl="0" indent="-342900">
              <a:buFont typeface="Arial" panose="020B0604020202020204" pitchFamily="34" charset="0"/>
              <a:buChar char="•"/>
            </a:pPr>
            <a:r>
              <a:rPr lang="en-IN" dirty="0"/>
              <a:t>Increased farming costs.</a:t>
            </a:r>
          </a:p>
          <a:p>
            <a:pPr marL="342900" lvl="0" indent="-342900">
              <a:buFont typeface="Arial" panose="020B0604020202020204" pitchFamily="34" charset="0"/>
              <a:buChar char="•"/>
            </a:pPr>
            <a:r>
              <a:rPr lang="en-IN" dirty="0"/>
              <a:t>Nutrient loss and environmental pollution.</a:t>
            </a:r>
          </a:p>
          <a:p>
            <a:pPr marL="342900" lvl="0" indent="-342900">
              <a:buFont typeface="Arial" panose="020B0604020202020204" pitchFamily="34" charset="0"/>
              <a:buChar char="•"/>
            </a:pPr>
            <a:r>
              <a:rPr lang="en-IN" dirty="0"/>
              <a:t>Reduced crop productivity when plants receive insufficient nutrients.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12" name="Team Name">
            <a:extLst>
              <a:ext uri="{FF2B5EF4-FFF2-40B4-BE49-F238E27FC236}">
                <a16:creationId xmlns:a16="http://schemas.microsoft.com/office/drawing/2014/main" id="{6E6826B4-DB85-8DD6-CE04-0702477AF7F8}"/>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14" name="TextBox 13">
            <a:extLst>
              <a:ext uri="{FF2B5EF4-FFF2-40B4-BE49-F238E27FC236}">
                <a16:creationId xmlns:a16="http://schemas.microsoft.com/office/drawing/2014/main" id="{A4A3286C-3689-436C-2929-441E4EE90CC8}"/>
              </a:ext>
            </a:extLst>
          </p:cNvPr>
          <p:cNvSpPr txBox="1"/>
          <p:nvPr/>
        </p:nvSpPr>
        <p:spPr>
          <a:xfrm>
            <a:off x="603504" y="2240280"/>
            <a:ext cx="8757064" cy="2585323"/>
          </a:xfrm>
          <a:prstGeom prst="rect">
            <a:avLst/>
          </a:prstGeom>
          <a:noFill/>
        </p:spPr>
        <p:txBody>
          <a:bodyPr wrap="square">
            <a:spAutoFit/>
          </a:bodyPr>
          <a:lstStyle/>
          <a:p>
            <a:pPr>
              <a:buNone/>
            </a:pPr>
            <a:r>
              <a:rPr lang="en-IN" b="1" dirty="0"/>
              <a:t>Existing Methods and Limitations</a:t>
            </a:r>
            <a:endParaRPr lang="en-IN" dirty="0"/>
          </a:p>
          <a:p>
            <a:pPr marL="342900" lvl="0" indent="-342900">
              <a:buFont typeface="Arial" panose="020B0604020202020204" pitchFamily="34" charset="0"/>
              <a:buChar char="•"/>
            </a:pPr>
            <a:r>
              <a:rPr lang="en-IN" b="1" dirty="0"/>
              <a:t>Manual spreading:</a:t>
            </a:r>
            <a:r>
              <a:rPr lang="en-IN" dirty="0"/>
              <a:t> Affordable but may cause uneven distribution.</a:t>
            </a:r>
          </a:p>
          <a:p>
            <a:pPr marL="342900" lvl="0" indent="-342900">
              <a:buFont typeface="Arial" panose="020B0604020202020204" pitchFamily="34" charset="0"/>
              <a:buChar char="•"/>
            </a:pPr>
            <a:r>
              <a:rPr lang="en-IN" b="1" dirty="0"/>
              <a:t>Mechanical spreaders:</a:t>
            </a:r>
            <a:r>
              <a:rPr lang="en-IN" dirty="0"/>
              <a:t> Cover large areas quickly but may apply fertilizer uniformly.</a:t>
            </a:r>
          </a:p>
          <a:p>
            <a:pPr marL="342900" lvl="0" indent="-342900">
              <a:buFont typeface="Arial" panose="020B0604020202020204" pitchFamily="34" charset="0"/>
              <a:buChar char="•"/>
            </a:pPr>
            <a:r>
              <a:rPr lang="en-IN" b="1" dirty="0"/>
              <a:t>Soil testing:</a:t>
            </a:r>
            <a:r>
              <a:rPr lang="en-IN" dirty="0"/>
              <a:t> Helps identify nutrient deficiencies but requires testing facilities and time.</a:t>
            </a:r>
          </a:p>
          <a:p>
            <a:pPr marL="342900" lvl="0" indent="-342900">
              <a:buFont typeface="Arial" panose="020B0604020202020204" pitchFamily="34" charset="0"/>
              <a:buChar char="•"/>
            </a:pPr>
            <a:r>
              <a:rPr lang="en-IN" b="1" dirty="0"/>
              <a:t>Precision agriculture:</a:t>
            </a:r>
            <a:r>
              <a:rPr lang="en-IN" dirty="0"/>
              <a:t> Uses sensors, GPS and automated equipment but can be expensive for small farmers.</a:t>
            </a:r>
          </a:p>
          <a:p>
            <a:pPr>
              <a:buNone/>
            </a:pPr>
            <a:r>
              <a:rPr lang="en-IN" b="1" dirty="0"/>
              <a:t>Gap Identified</a:t>
            </a:r>
            <a:br>
              <a:rPr lang="en-IN" dirty="0"/>
            </a:br>
            <a:r>
              <a:rPr lang="en-IN" dirty="0"/>
              <a:t>An affordable, easy-to-use system that adjusts fertilizer application according to crop or soil requirements, especially for small and medium-scale farms.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2" name="Team Name">
            <a:extLst>
              <a:ext uri="{FF2B5EF4-FFF2-40B4-BE49-F238E27FC236}">
                <a16:creationId xmlns:a16="http://schemas.microsoft.com/office/drawing/2014/main" id="{4B764C0B-BA49-2C0A-C07D-716385CEC16D}"/>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14" name="TextBox 13">
            <a:extLst>
              <a:ext uri="{FF2B5EF4-FFF2-40B4-BE49-F238E27FC236}">
                <a16:creationId xmlns:a16="http://schemas.microsoft.com/office/drawing/2014/main" id="{FEAAB4FB-F4B1-61CC-4004-B70EF23D0FC0}"/>
              </a:ext>
            </a:extLst>
          </p:cNvPr>
          <p:cNvSpPr txBox="1"/>
          <p:nvPr/>
        </p:nvSpPr>
        <p:spPr>
          <a:xfrm>
            <a:off x="288132" y="1872583"/>
            <a:ext cx="11476201" cy="4647426"/>
          </a:xfrm>
          <a:prstGeom prst="rect">
            <a:avLst/>
          </a:prstGeom>
          <a:noFill/>
        </p:spPr>
        <p:txBody>
          <a:bodyPr wrap="square">
            <a:spAutoFit/>
          </a:bodyPr>
          <a:lstStyle/>
          <a:p>
            <a:pPr>
              <a:buNone/>
            </a:pPr>
            <a:r>
              <a:rPr lang="en-IN" sz="1600" b="1" dirty="0"/>
              <a:t>Opportunity</a:t>
            </a:r>
            <a:br>
              <a:rPr lang="en-IN" sz="1600" dirty="0"/>
            </a:br>
            <a:r>
              <a:rPr lang="en-IN" sz="1600" dirty="0"/>
              <a:t>Develop a low-cost, semi-automated fertilizer application system that helps reduce wastage by controlling the amount and location of fertilizer delivery.</a:t>
            </a:r>
          </a:p>
          <a:p>
            <a:pPr>
              <a:buNone/>
            </a:pPr>
            <a:r>
              <a:rPr lang="en-IN" sz="1600" b="1" dirty="0"/>
              <a:t>Hardware Requirements</a:t>
            </a:r>
            <a:endParaRPr lang="en-IN" sz="1600" dirty="0"/>
          </a:p>
          <a:p>
            <a:pPr marL="342900" lvl="0" indent="-342900">
              <a:buFont typeface="Arial" panose="020B0604020202020204" pitchFamily="34" charset="0"/>
              <a:buChar char="•"/>
            </a:pPr>
            <a:r>
              <a:rPr lang="en-IN" sz="1600" dirty="0"/>
              <a:t>Soil moisture and nutrient sensors (as needed).</a:t>
            </a:r>
          </a:p>
          <a:p>
            <a:pPr marL="342900" lvl="0" indent="-342900">
              <a:buFont typeface="Arial" panose="020B0604020202020204" pitchFamily="34" charset="0"/>
              <a:buChar char="•"/>
            </a:pPr>
            <a:r>
              <a:rPr lang="en-IN" sz="1600" dirty="0"/>
              <a:t>Microcontroller such as Arduino or ESP32.</a:t>
            </a:r>
          </a:p>
          <a:p>
            <a:pPr marL="342900" lvl="0" indent="-342900">
              <a:buFont typeface="Arial" panose="020B0604020202020204" pitchFamily="34" charset="0"/>
              <a:buChar char="•"/>
            </a:pPr>
            <a:r>
              <a:rPr lang="en-IN" sz="1600" dirty="0"/>
              <a:t>Fertilizer dispensing mechanism.</a:t>
            </a:r>
          </a:p>
          <a:p>
            <a:pPr marL="342900" lvl="0" indent="-342900">
              <a:buFont typeface="Arial" panose="020B0604020202020204" pitchFamily="34" charset="0"/>
              <a:buChar char="•"/>
            </a:pPr>
            <a:r>
              <a:rPr lang="en-IN" sz="1600" dirty="0"/>
              <a:t>Motor, pump or servo for controlled delivery.</a:t>
            </a:r>
          </a:p>
          <a:p>
            <a:pPr marL="342900" lvl="0" indent="-342900">
              <a:buFont typeface="Arial" panose="020B0604020202020204" pitchFamily="34" charset="0"/>
              <a:buChar char="•"/>
            </a:pPr>
            <a:r>
              <a:rPr lang="en-IN" sz="1600" dirty="0"/>
              <a:t>Battery and basic mounting frame.</a:t>
            </a:r>
          </a:p>
          <a:p>
            <a:pPr>
              <a:buNone/>
            </a:pPr>
            <a:r>
              <a:rPr lang="en-IN" sz="1600" b="1" dirty="0"/>
              <a:t>Software Requirements</a:t>
            </a:r>
            <a:endParaRPr lang="en-IN" sz="1600" dirty="0"/>
          </a:p>
          <a:p>
            <a:pPr marL="342900" lvl="0" indent="-342900">
              <a:buFont typeface="Arial" panose="020B0604020202020204" pitchFamily="34" charset="0"/>
              <a:buChar char="•"/>
            </a:pPr>
            <a:r>
              <a:rPr lang="en-IN" sz="1600" dirty="0"/>
              <a:t>Sensor data collection and processing.</a:t>
            </a:r>
          </a:p>
          <a:p>
            <a:pPr marL="342900" lvl="0" indent="-342900">
              <a:buFont typeface="Arial" panose="020B0604020202020204" pitchFamily="34" charset="0"/>
              <a:buChar char="•"/>
            </a:pPr>
            <a:r>
              <a:rPr lang="en-IN" sz="1600" dirty="0"/>
              <a:t>Fertilizer dispensing control logic.</a:t>
            </a:r>
          </a:p>
          <a:p>
            <a:pPr marL="342900" lvl="0" indent="-342900">
              <a:buFont typeface="Arial" panose="020B0604020202020204" pitchFamily="34" charset="0"/>
              <a:buChar char="•"/>
            </a:pPr>
            <a:r>
              <a:rPr lang="en-IN" sz="1600" dirty="0"/>
              <a:t>Simple calibration and monitoring interface.</a:t>
            </a:r>
          </a:p>
          <a:p>
            <a:pPr>
              <a:buNone/>
            </a:pPr>
            <a:r>
              <a:rPr lang="en-IN" sz="1600" b="1" dirty="0"/>
              <a:t>Other Resources</a:t>
            </a:r>
            <a:endParaRPr lang="en-IN" sz="1600" dirty="0"/>
          </a:p>
          <a:p>
            <a:pPr marL="342900" lvl="0" indent="-342900">
              <a:buFont typeface="Arial" panose="020B0604020202020204" pitchFamily="34" charset="0"/>
              <a:buChar char="•"/>
            </a:pPr>
            <a:r>
              <a:rPr lang="en-IN" sz="1600" dirty="0"/>
              <a:t>Soil samples and a small test plot.</a:t>
            </a:r>
          </a:p>
          <a:p>
            <a:pPr marL="342900" lvl="0" indent="-342900">
              <a:buFont typeface="Arial" panose="020B0604020202020204" pitchFamily="34" charset="0"/>
              <a:buChar char="•"/>
            </a:pPr>
            <a:r>
              <a:rPr lang="en-IN" sz="1600" dirty="0"/>
              <a:t>Fertilizer and dispensing materials.</a:t>
            </a:r>
          </a:p>
          <a:p>
            <a:pPr marL="342900" lvl="0" indent="-342900">
              <a:buFont typeface="Arial" panose="020B0604020202020204" pitchFamily="34" charset="0"/>
              <a:buChar char="•"/>
            </a:pPr>
            <a:r>
              <a:rPr lang="en-IN" sz="1600" dirty="0"/>
              <a:t>Guidance from farmers or agricultural experts.</a:t>
            </a:r>
          </a:p>
          <a:p>
            <a:pPr>
              <a:buNone/>
            </a:pPr>
            <a:r>
              <a:rPr lang="en-IN" sz="1600" b="1" dirty="0"/>
              <a:t>Practical Approach:</a:t>
            </a:r>
            <a:r>
              <a:rPr lang="en-IN" sz="1600" dirty="0"/>
              <a:t> Begin with a small prototype before attempting full-field automation.</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2" name="Team Name">
            <a:extLst>
              <a:ext uri="{FF2B5EF4-FFF2-40B4-BE49-F238E27FC236}">
                <a16:creationId xmlns:a16="http://schemas.microsoft.com/office/drawing/2014/main" id="{3717EDE0-7DB2-0CAC-C2FD-B8F35E0D23DF}"/>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
        <p:nvSpPr>
          <p:cNvPr id="14" name="TextBox 13">
            <a:extLst>
              <a:ext uri="{FF2B5EF4-FFF2-40B4-BE49-F238E27FC236}">
                <a16:creationId xmlns:a16="http://schemas.microsoft.com/office/drawing/2014/main" id="{AEA131C9-BF44-98F4-B161-4A83489A918D}"/>
              </a:ext>
            </a:extLst>
          </p:cNvPr>
          <p:cNvSpPr txBox="1"/>
          <p:nvPr/>
        </p:nvSpPr>
        <p:spPr>
          <a:xfrm>
            <a:off x="457200" y="1919325"/>
            <a:ext cx="11506200" cy="3416320"/>
          </a:xfrm>
          <a:prstGeom prst="rect">
            <a:avLst/>
          </a:prstGeom>
          <a:noFill/>
        </p:spPr>
        <p:txBody>
          <a:bodyPr wrap="square">
            <a:spAutoFit/>
          </a:bodyPr>
          <a:lstStyle/>
          <a:p>
            <a:pPr>
              <a:buNone/>
            </a:pPr>
            <a:r>
              <a:rPr lang="en-IN" b="1" dirty="0"/>
              <a:t>Proposed Solution</a:t>
            </a:r>
            <a:br>
              <a:rPr lang="en-IN" dirty="0"/>
            </a:br>
            <a:r>
              <a:rPr lang="en-IN" dirty="0"/>
              <a:t>Build an affordable, controlled fertilizer dispenser that delivers measured quantities at selected locations instead of spreading fertilizer indiscriminately.</a:t>
            </a:r>
          </a:p>
          <a:p>
            <a:pPr>
              <a:buNone/>
            </a:pPr>
            <a:r>
              <a:rPr lang="en-IN" b="1" dirty="0"/>
              <a:t>What We Intend to Do</a:t>
            </a:r>
            <a:endParaRPr lang="en-IN" dirty="0"/>
          </a:p>
          <a:p>
            <a:pPr marL="342900" lvl="0" indent="-342900">
              <a:buFont typeface="Arial" panose="020B0604020202020204" pitchFamily="34" charset="0"/>
              <a:buChar char="•"/>
            </a:pPr>
            <a:r>
              <a:rPr lang="en-IN" dirty="0"/>
              <a:t>Design a simple fertilizer dispensing mechanism.</a:t>
            </a:r>
          </a:p>
          <a:p>
            <a:pPr marL="342900" lvl="0" indent="-342900">
              <a:buFont typeface="Arial" panose="020B0604020202020204" pitchFamily="34" charset="0"/>
              <a:buChar char="•"/>
            </a:pPr>
            <a:r>
              <a:rPr lang="en-IN" dirty="0"/>
              <a:t>Control dispensing using a microcontroller.</a:t>
            </a:r>
          </a:p>
          <a:p>
            <a:pPr marL="342900" lvl="0" indent="-342900">
              <a:buFont typeface="Arial" panose="020B0604020202020204" pitchFamily="34" charset="0"/>
              <a:buChar char="•"/>
            </a:pPr>
            <a:r>
              <a:rPr lang="en-IN" dirty="0"/>
              <a:t>Test the prototype under controlled conditions.</a:t>
            </a:r>
          </a:p>
          <a:p>
            <a:pPr marL="342900" lvl="0" indent="-342900">
              <a:buFont typeface="Arial" panose="020B0604020202020204" pitchFamily="34" charset="0"/>
              <a:buChar char="•"/>
            </a:pPr>
            <a:r>
              <a:rPr lang="en-IN" dirty="0"/>
              <a:t>Compare fertilizer usage and distribution with manual application.</a:t>
            </a:r>
          </a:p>
          <a:p>
            <a:pPr>
              <a:buNone/>
            </a:pPr>
            <a:r>
              <a:rPr lang="en-IN" b="1" dirty="0"/>
              <a:t>Expected Improvements</a:t>
            </a:r>
            <a:endParaRPr lang="en-IN" dirty="0"/>
          </a:p>
          <a:p>
            <a:pPr marL="342900" lvl="0" indent="-342900">
              <a:buFont typeface="Arial" panose="020B0604020202020204" pitchFamily="34" charset="0"/>
              <a:buChar char="•"/>
            </a:pPr>
            <a:r>
              <a:rPr lang="en-IN" dirty="0"/>
              <a:t>Better control over fertilizer quantity.</a:t>
            </a:r>
          </a:p>
          <a:p>
            <a:pPr marL="342900" lvl="0" indent="-342900">
              <a:buFont typeface="Arial" panose="020B0604020202020204" pitchFamily="34" charset="0"/>
              <a:buChar char="•"/>
            </a:pPr>
            <a:r>
              <a:rPr lang="en-IN" dirty="0"/>
              <a:t>Reduced unnecessary fertilizer application.</a:t>
            </a:r>
          </a:p>
          <a:p>
            <a:pPr marL="342900" lvl="0" indent="-342900">
              <a:buFont typeface="Arial" panose="020B0604020202020204" pitchFamily="34" charset="0"/>
              <a:buChar char="•"/>
            </a:pPr>
            <a:r>
              <a:rPr lang="en-IN" dirty="0"/>
              <a:t>Affordable and simple operation for small farmers..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73331639"/>
              </p:ext>
            </p:extLst>
          </p:nvPr>
        </p:nvGraphicFramePr>
        <p:xfrm>
          <a:off x="548640" y="214884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a:spcBef>
                          <a:spcPts val="100"/>
                        </a:spcBef>
                        <a:spcAft>
                          <a:spcPts val="100"/>
                        </a:spcAft>
                      </a:pPr>
                      <a:r>
                        <a:rPr sz="1200" b="1"/>
                        <a:t>Team Member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a:spcBef>
                          <a:spcPts val="100"/>
                        </a:spcBef>
                        <a:spcAft>
                          <a:spcPts val="100"/>
                        </a:spcAft>
                      </a:pPr>
                      <a:r>
                        <a:rPr sz="1200" b="1"/>
                        <a:t>Role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a:spcBef>
                          <a:spcPts val="100"/>
                        </a:spcBef>
                        <a:spcAft>
                          <a:spcPts val="100"/>
                        </a:spcAft>
                      </a:pPr>
                      <a:r>
                        <a:rPr sz="1200" b="1"/>
                        <a:t>Responsibility in Execution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a:spcBef>
                          <a:spcPts val="100"/>
                        </a:spcBef>
                        <a:spcAft>
                          <a:spcPts val="100"/>
                        </a:spcAft>
                      </a:pPr>
                      <a:r>
                        <a:rPr lang="en-IN" sz="1100" dirty="0"/>
                        <a:t>H Dheeraj</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dirty="0"/>
                        <a:t>System design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a:t>Define requirements and coordinate the prototype.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a:spcBef>
                          <a:spcPts val="100"/>
                        </a:spcBef>
                        <a:spcAft>
                          <a:spcPts val="100"/>
                        </a:spcAft>
                      </a:pPr>
                      <a:r>
                        <a:rPr sz="1100"/>
                        <a:t>Siddharth HariPanicker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a:t>Electronics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a:t>Connect the controller, motor/servo, and power supply.</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a:spcBef>
                          <a:spcPts val="100"/>
                        </a:spcBef>
                        <a:spcAft>
                          <a:spcPts val="100"/>
                        </a:spcAft>
                      </a:pPr>
                      <a:r>
                        <a:rPr sz="1100"/>
                        <a:t>Ashwin Shajil</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dirty="0"/>
                        <a:t>Mechanical design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a:t>Build the hopper and fertilizer dispensing mechanism.</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a:spcBef>
                          <a:spcPts val="100"/>
                        </a:spcBef>
                        <a:spcAft>
                          <a:spcPts val="100"/>
                        </a:spcAft>
                      </a:pPr>
                      <a:r>
                        <a:rPr lang="en-US" sz="1100" dirty="0"/>
                        <a:t>Austin Binoy</a:t>
                      </a:r>
                      <a:endParaRPr sz="1100" dirty="0"/>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dirty="0"/>
                        <a:t>Programming &amp; testing</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a:spcBef>
                          <a:spcPts val="100"/>
                        </a:spcBef>
                        <a:spcAft>
                          <a:spcPts val="100"/>
                        </a:spcAft>
                      </a:pPr>
                      <a:r>
                        <a:rPr sz="1100" dirty="0"/>
                        <a:t>Write the dose-control code and record test results.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
        <p:nvSpPr>
          <p:cNvPr id="12" name="Team Name">
            <a:extLst>
              <a:ext uri="{FF2B5EF4-FFF2-40B4-BE49-F238E27FC236}">
                <a16:creationId xmlns:a16="http://schemas.microsoft.com/office/drawing/2014/main" id="{FCD0FEBC-B343-19DD-CB21-BCFBC455A11B}"/>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SAAND</a:t>
            </a:r>
            <a:endParaRPr lang="en-US" sz="900"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970</Words>
  <Application>Microsoft Office PowerPoint</Application>
  <PresentationFormat>Widescreen</PresentationFormat>
  <Paragraphs>140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Austin Binoy - [CB.EN.U4ARE25008]</cp:lastModifiedBy>
  <cp:revision>7</cp:revision>
  <dcterms:created xsi:type="dcterms:W3CDTF">2026-10-07T15:27:40Z</dcterms:created>
  <dcterms:modified xsi:type="dcterms:W3CDTF">2026-10-09T16:33:47Z</dcterms:modified>
</cp:coreProperties>
</file>